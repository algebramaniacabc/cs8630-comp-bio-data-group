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Oswald" panose="020B0604020202020204" charset="0"/>
      <p:regular r:id="rId14"/>
      <p:bold r:id="rId15"/>
    </p:embeddedFont>
    <p:embeddedFont>
      <p:font typeface="Average" panose="020B060402020202020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uke Dun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1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0-31T18:21:20.138" idx="1">
    <p:pos x="6000" y="0"/>
    <p:text>I couldn't get all drug types to appear in the x-labels. There were too many even with a smaller font size</p:text>
  </p:cm>
  <p:cm authorId="0" dt="2025-10-31T18:21:20.138" idx="2">
    <p:pos x="6000" y="0"/>
    <p:text>There are 286 columns, lol!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f12f50060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f12f50060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f12f5006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f12f5006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12f50060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f12f50060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12f50060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12f50060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12f50060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12f50060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f12f50060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f12f50060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f12f50060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f12f50060_1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f12f50060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f12f50060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12f50060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12f50060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12f50060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12f50060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Genomics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</a:rPr>
              <a:t>Visualizing the Genomics of Drug Sensitivity in Cancer (GDSC)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and Background</a:t>
            </a:r>
            <a:endParaRPr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224900" y="1153875"/>
            <a:ext cx="81519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dirty="0">
                <a:solidFill>
                  <a:schemeClr val="dk1"/>
                </a:solidFill>
              </a:rPr>
              <a:t>The Genomics of Drug Sensitivity in Cancer (GDSC) dataset links drug response data with genomic profiles of cancer cell lines.</a:t>
            </a:r>
            <a:br>
              <a:rPr lang="en-GB" sz="1500" dirty="0">
                <a:solidFill>
                  <a:schemeClr val="dk1"/>
                </a:solidFill>
              </a:rPr>
            </a:br>
            <a:endParaRPr sz="1500" dirty="0">
              <a:solidFill>
                <a:schemeClr val="dk1"/>
              </a:solidFill>
            </a:endParaRPr>
          </a:p>
          <a:p>
            <a: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dirty="0">
                <a:solidFill>
                  <a:schemeClr val="dk1"/>
                </a:solidFill>
              </a:rPr>
              <a:t>It helps study how genetic differences influence how cancer cells respond to various drugs.</a:t>
            </a:r>
            <a:br>
              <a:rPr lang="en-GB" sz="1500" dirty="0">
                <a:solidFill>
                  <a:schemeClr val="dk1"/>
                </a:solidFill>
              </a:rPr>
            </a:br>
            <a:endParaRPr sz="1500" dirty="0">
              <a:solidFill>
                <a:schemeClr val="dk1"/>
              </a:solidFill>
            </a:endParaRPr>
          </a:p>
          <a:p>
            <a: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dirty="0">
                <a:solidFill>
                  <a:schemeClr val="dk1"/>
                </a:solidFill>
              </a:rPr>
              <a:t>Includes data such as IC50 (drug sensitivity measure), gene expression, mutations, and cancer type information.</a:t>
            </a:r>
            <a:br>
              <a:rPr lang="en-GB" sz="1500" dirty="0">
                <a:solidFill>
                  <a:schemeClr val="dk1"/>
                </a:solidFill>
              </a:rPr>
            </a:br>
            <a:endParaRPr sz="1500" dirty="0">
              <a:solidFill>
                <a:schemeClr val="dk1"/>
              </a:solidFill>
            </a:endParaRPr>
          </a:p>
          <a:p>
            <a: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dirty="0">
                <a:solidFill>
                  <a:schemeClr val="dk1"/>
                </a:solidFill>
              </a:rPr>
              <a:t>Our project uses data visualization to uncover patterns between drugs, genes, and cancer types.</a:t>
            </a:r>
            <a:br>
              <a:rPr lang="en-GB" sz="1500" dirty="0">
                <a:solidFill>
                  <a:schemeClr val="dk1"/>
                </a:solidFill>
              </a:rPr>
            </a:br>
            <a:endParaRPr sz="1500" dirty="0">
              <a:solidFill>
                <a:schemeClr val="dk1"/>
              </a:solidFill>
            </a:endParaRPr>
          </a:p>
          <a:p>
            <a: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dirty="0">
                <a:solidFill>
                  <a:schemeClr val="dk1"/>
                </a:solidFill>
              </a:rPr>
              <a:t>The goal is to make complex genomic data easier to interpret and highlight insights that support personalized cancer treatment.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overview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701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Source: GDSC – available on Kaggle.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Files Used: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GB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GDSC2-dataset.csv – contains drug sensitivity data (IC50, AUC, etc.) for drugs tested on different cancer cell lines.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GB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Cell_Lines_Details.xlsx – provides genomic and biological information about each cell line (like mutation, expression, and methylation).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GB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Compounds-annotation.csv – includes details about drugs and their biological targets.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Merged Dataset Shape: After merging → 242,035 rows × 19 columns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775" y="260775"/>
            <a:ext cx="4047825" cy="47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Architecture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11075"/>
            <a:ext cx="8839204" cy="141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Visualization Plan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11700" y="1291500"/>
            <a:ext cx="80619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We designed a visualization plan to explore the dataset from multiple angles:</a:t>
            </a:r>
            <a:endParaRPr sz="1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Distribution of Numeric Features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GDSC Tissue Distribution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Pairplot of Numeric Features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Drug Sensitivity Across Cancer Types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Drug Efficacy Across Tissue Types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Top Drug Targets 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Pathway Distributions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Impact of Microsatellite Instability 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Treemap / Sunburst / Sankey Diagrams for interactive exploration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GDSC Tissue Distribution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l="1926" r="13198"/>
          <a:stretch/>
        </p:blipFill>
        <p:spPr>
          <a:xfrm>
            <a:off x="153175" y="1200075"/>
            <a:ext cx="5755530" cy="34493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5908700" y="1493413"/>
            <a:ext cx="31683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The dataset covers a variety of cancer tissue types, with lung (NSCLC) and urogenital system cancers having the highest representation.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Cancers like thyroid and myeloma have fewer samples, showing limited data for those types.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This distribution highlights which cancers are more studied and where data gaps exist.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152400" y="427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Correlation Heatmap of Encoded Features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50" y="1091775"/>
            <a:ext cx="440398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5299950" y="1134300"/>
            <a:ext cx="38442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The heatmap shows relationships between all encoded features in the drug sensitivity dataset.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Strong positive correlations appear between TCGA_DESC, DRUG_NAME, and GDSC tissue descriptors, while growth properties are negatively correlated due to exclusivity. LN(IC50), AUC, and Z_SCORE are positively correlated, confirming consistent drug response metrics.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Most genomic features show weak correlations, indicating independent biological contributions.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152400" y="423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Drug Sensitivity Across Cancer Types (Heatmap)</a:t>
            </a:r>
            <a:endParaRPr/>
          </a:p>
        </p:txBody>
      </p:sp>
      <p:pic>
        <p:nvPicPr>
          <p:cNvPr id="105" name="Google Shape;105;p20" title="heatmap_sorted_drug.png"/>
          <p:cNvPicPr preferRelativeResize="0"/>
          <p:nvPr/>
        </p:nvPicPr>
        <p:blipFill rotWithShape="1">
          <a:blip r:embed="rId3">
            <a:alphaModFix/>
          </a:blip>
          <a:srcRect t="5068" b="5068"/>
          <a:stretch/>
        </p:blipFill>
        <p:spPr>
          <a:xfrm>
            <a:off x="152400" y="1170125"/>
            <a:ext cx="6389301" cy="3653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6599100" y="341100"/>
            <a:ext cx="25449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This heatmap shows how different </a:t>
            </a:r>
            <a:r>
              <a:rPr lang="en-GB" sz="1200" b="1">
                <a:solidFill>
                  <a:schemeClr val="dk1"/>
                </a:solidFill>
              </a:rPr>
              <a:t>cancer types</a:t>
            </a:r>
            <a:r>
              <a:rPr lang="en-GB" sz="1200">
                <a:solidFill>
                  <a:schemeClr val="dk1"/>
                </a:solidFill>
              </a:rPr>
              <a:t> (rows) respond to various </a:t>
            </a:r>
            <a:r>
              <a:rPr lang="en-GB" sz="1200" b="1">
                <a:solidFill>
                  <a:schemeClr val="dk1"/>
                </a:solidFill>
              </a:rPr>
              <a:t>drugs</a:t>
            </a:r>
            <a:r>
              <a:rPr lang="en-GB" sz="1200">
                <a:solidFill>
                  <a:schemeClr val="dk1"/>
                </a:solidFill>
              </a:rPr>
              <a:t> (columns) based on </a:t>
            </a:r>
            <a:r>
              <a:rPr lang="en-GB" sz="1200" b="1">
                <a:solidFill>
                  <a:schemeClr val="dk1"/>
                </a:solidFill>
              </a:rPr>
              <a:t>LN(IC50)</a:t>
            </a:r>
            <a:r>
              <a:rPr lang="en-GB" sz="1200">
                <a:solidFill>
                  <a:schemeClr val="dk1"/>
                </a:solidFill>
              </a:rPr>
              <a:t> values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</a:t>
            </a:r>
            <a:r>
              <a:rPr lang="en-GB" sz="1200" b="1">
                <a:solidFill>
                  <a:schemeClr val="dk1"/>
                </a:solidFill>
              </a:rPr>
              <a:t>color scale</a:t>
            </a:r>
            <a:r>
              <a:rPr lang="en-GB" sz="1200">
                <a:solidFill>
                  <a:schemeClr val="dk1"/>
                </a:solidFill>
              </a:rPr>
              <a:t> represents drug sensitivity — </a:t>
            </a:r>
            <a:r>
              <a:rPr lang="en-GB" sz="1200" b="1">
                <a:solidFill>
                  <a:schemeClr val="dk1"/>
                </a:solidFill>
              </a:rPr>
              <a:t>red areas</a:t>
            </a:r>
            <a:r>
              <a:rPr lang="en-GB" sz="1200">
                <a:solidFill>
                  <a:schemeClr val="dk1"/>
                </a:solidFill>
              </a:rPr>
              <a:t> indicate higher sensitivity (lower IC50, meaning the drug is more effective), while </a:t>
            </a:r>
            <a:r>
              <a:rPr lang="en-GB" sz="1200" b="1">
                <a:solidFill>
                  <a:schemeClr val="dk1"/>
                </a:solidFill>
              </a:rPr>
              <a:t>blue areas</a:t>
            </a:r>
            <a:r>
              <a:rPr lang="en-GB" sz="1200">
                <a:solidFill>
                  <a:schemeClr val="dk1"/>
                </a:solidFill>
              </a:rPr>
              <a:t> show lower sensitivity (higher IC50, meaning the drug is less effective).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From the pattern, we can see that </a:t>
            </a:r>
            <a:r>
              <a:rPr lang="en-GB" sz="1200" b="1">
                <a:solidFill>
                  <a:schemeClr val="dk1"/>
                </a:solidFill>
              </a:rPr>
              <a:t>drug response varies widely</a:t>
            </a:r>
            <a:r>
              <a:rPr lang="en-GB" sz="1200">
                <a:solidFill>
                  <a:schemeClr val="dk1"/>
                </a:solidFill>
              </a:rPr>
              <a:t> across cancer types, suggesting that certain drugs are more effective for specific cancers, highlighting the importance of </a:t>
            </a:r>
            <a:r>
              <a:rPr lang="en-GB" sz="1200" b="1">
                <a:solidFill>
                  <a:schemeClr val="dk1"/>
                </a:solidFill>
              </a:rPr>
              <a:t>personalized treatment strategies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152400" y="401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Drug Sensitivity Across Cancer Types (Heatmap)</a:t>
            </a:r>
            <a:endParaRPr/>
          </a:p>
        </p:txBody>
      </p:sp>
      <p:pic>
        <p:nvPicPr>
          <p:cNvPr id="112" name="Google Shape;112;p21" title="heatmap_sorted_both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70125"/>
            <a:ext cx="6004388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6300475" y="1083575"/>
            <a:ext cx="25488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Median Drug Sensitivity (LN(IC50)) Across Cancer Types – Sorted by Drug and Cancer Sensitivity. This heatmap is sorted by both drug efficacy and cancer type sensitivity.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orientation is reversed so that lower efficacy drugs appear on the left and higher efficacy drugs (red) are on the right. 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This dual sorting highlights how both drug potency and cancer-specific responses contribute to the overall sensitivity landscape.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283575" y="469375"/>
            <a:ext cx="8298600" cy="3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Next Steps</a:t>
            </a:r>
            <a:endParaRPr sz="21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Complete and refine all the planned visualizations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Build interactive dashboards (using Plotly/Dash or Tableau) for dynamic exploration.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Analyze relationships between drugs, pathways, and cancer types to extract insights.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Key Learnings</a:t>
            </a:r>
            <a:endParaRPr sz="21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Learned to process and visualize large, complex biomedical datasets.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Improved skills in data cleaning, feature analysis and exploratory visualization.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Understood how visualization can reveal hidden genomic patterns and relationships.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200"/>
              <a:t>THANK YOU!</a:t>
            </a:r>
            <a:endParaRPr sz="6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On-screen Show (16:9)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Oswald</vt:lpstr>
      <vt:lpstr>Arial</vt:lpstr>
      <vt:lpstr>Average</vt:lpstr>
      <vt:lpstr>Slate</vt:lpstr>
      <vt:lpstr>Genomics</vt:lpstr>
      <vt:lpstr>Introduction and Background</vt:lpstr>
      <vt:lpstr>Dataset overview</vt:lpstr>
      <vt:lpstr>Project Architecture</vt:lpstr>
      <vt:lpstr>Visualization Plan</vt:lpstr>
      <vt:lpstr>GDSC Tissue Distribution</vt:lpstr>
      <vt:lpstr>Correlation Heatmap of Encoded Features</vt:lpstr>
      <vt:lpstr>Drug Sensitivity Across Cancer Types (Heatmap)</vt:lpstr>
      <vt:lpstr>Drug Sensitivity Across Cancer Types (Heatmap)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Genomics</dc:title>
  <cp:lastModifiedBy>Preya Patel</cp:lastModifiedBy>
  <cp:revision>1</cp:revision>
  <dcterms:modified xsi:type="dcterms:W3CDTF">2025-10-31T18:45:52Z</dcterms:modified>
</cp:coreProperties>
</file>